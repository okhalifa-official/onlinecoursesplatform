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in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868680"/>
            <a:ext cx="3977640" cy="3803904"/>
          </a:xfrm>
          <a:prstGeom prst="rect">
            <a:avLst/>
          </a:prstGeom>
        </p:spPr>
      </p:pic>
      <p:pic>
        <p:nvPicPr>
          <p:cNvPr id="3" name="Image 1" descr="asset_hdr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57200"/>
            <a:ext cx="1783080" cy="4855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5836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5120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 COURSE PROJECT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SonoSchool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548640" y="23957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E-Learning Platform for Medical Education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48640" y="2971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localized platform covering the entire student lifecycle — discover, pay, learn, exam, certify — plus a full admin dashboard and an AI review layer for payments.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4892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AD9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518464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Malak Mahmoud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48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245229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Hany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48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246631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Abdelrahman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48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247923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Badr Mohamed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48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249223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Noureen Mohamemed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48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246173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26280" y="4892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AD9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 BY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26280" y="5184648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Raghda Essam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Mostafa Hassan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178040" y="4892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AD9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CODE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178040" y="518464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03-384-02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28116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AD9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281160" y="518464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University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  ·  ~15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280720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2807208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73989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3739896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467258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4672584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25616" y="18745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76008" y="1874520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Implementation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24448" y="2807208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5616" y="280720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76008" y="2807208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24448" y="3739896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25616" y="373989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76008" y="3739896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Value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4448" y="4672584"/>
            <a:ext cx="5318608" cy="749808"/>
          </a:xfrm>
          <a:prstGeom prst="roundRect">
            <a:avLst>
              <a:gd name="adj" fmla="val 8537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5616" y="467258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76008" y="4672584"/>
            <a:ext cx="412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in_clean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8412480" y="1554480"/>
            <a:ext cx="4023360" cy="3849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2A1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548640" y="2057400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5" name="Text 2"/>
          <p:cNvSpPr/>
          <p:nvPr/>
        </p:nvSpPr>
        <p:spPr>
          <a:xfrm>
            <a:off x="932688" y="19110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e-learning platform for Egyptian medical education — built end-to-end and ready to run.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SonoSchool?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 the entire journey.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13969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00" kern="0" dirty="0">
                <a:solidFill>
                  <a:srgbClr val="9E5C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   →   PAY   →   LEARN   →   EXAM   →   CERTIFY   →   VERIFY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515258" cy="2971800"/>
          </a:xfrm>
          <a:prstGeom prst="roundRect">
            <a:avLst>
              <a:gd name="adj" fmla="val 215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227832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012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599432"/>
            <a:ext cx="29849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LMS — student portal, admin dashboard, payments, exams &amp; certificates.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38218" y="2971800"/>
            <a:ext cx="3515258" cy="2971800"/>
          </a:xfrm>
          <a:prstGeom prst="roundRect">
            <a:avLst>
              <a:gd name="adj" fmla="val 215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2538" y="3227832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2538" y="3657600"/>
            <a:ext cx="3012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Achieves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2538" y="4599432"/>
            <a:ext cx="29849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5 disconnected tools with one cohesive system.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7797" y="2971800"/>
            <a:ext cx="3515258" cy="2971800"/>
          </a:xfrm>
          <a:prstGeom prst="roundRect">
            <a:avLst>
              <a:gd name="adj" fmla="val 215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02117" y="3227832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02117" y="3657600"/>
            <a:ext cx="3012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02117" y="4599432"/>
            <a:ext cx="29849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juggle 4–5 apps per course. One product does it all.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PROBLEM &amp;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Existing Solutions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18608" cy="4343400"/>
          </a:xfrm>
          <a:prstGeom prst="roundRect">
            <a:avLst>
              <a:gd name="adj" fmla="val 147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E5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Methods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7699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03200" indent="-203200">
              <a:lnSpc>
                <a:spcPct val="140000"/>
              </a:lnSpc>
              <a:spcAft>
                <a:spcPts val="2800"/>
              </a:spcAft>
              <a:buSzPct val="100000"/>
              <a:buChar char="–"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LMS (Udemy, Coursera) — </a:t>
            </a:r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in USD, no InstaPay, no localization.</a:t>
            </a:r>
            <a:endParaRPr lang="en-US" sz="1350" dirty="0"/>
          </a:p>
          <a:p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tutoring apps — </a:t>
            </a:r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InstaPay, but no exams, certificates, or CRM.</a:t>
            </a:r>
            <a:endParaRPr lang="en-US" sz="1350" dirty="0"/>
          </a:p>
          <a:p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stacks — </a:t>
            </a:r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Drive + Forms + manual tracking. No single source of truth.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1737360"/>
            <a:ext cx="5318608" cy="4343400"/>
          </a:xfrm>
          <a:prstGeom prst="roundRect">
            <a:avLst>
              <a:gd name="adj" fmla="val 1474"/>
            </a:avLst>
          </a:prstGeom>
          <a:solidFill>
            <a:srgbClr val="F0E7D2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196596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3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Gaps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98768" y="2606040"/>
            <a:ext cx="47699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03200" indent="-203200">
              <a:lnSpc>
                <a:spcPct val="140000"/>
              </a:lnSpc>
              <a:spcAft>
                <a:spcPts val="2800"/>
              </a:spcAft>
              <a:buSzPct val="100000"/>
              <a:buChar char="–"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end-to-end Egyptian LMS — </a:t>
            </a:r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covers discover → certify → verify.</a:t>
            </a:r>
            <a:endParaRPr lang="en-US" sz="1350" dirty="0"/>
          </a:p>
          <a:p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admin dashboard — </a:t>
            </a:r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courses, students, payments &amp; permissions are scattered.</a:t>
            </a:r>
            <a:endParaRPr lang="en-US" sz="1350" dirty="0"/>
          </a:p>
          <a:p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payment reconciliation — </a:t>
            </a:r>
            <a:pPr algn="l" indent="0" marL="0">
              <a:lnSpc>
                <a:spcPct val="140000"/>
              </a:lnSpc>
              <a:spcAft>
                <a:spcPts val="2800"/>
              </a:spcAft>
              <a:buNone/>
            </a:pPr>
            <a:r>
              <a:rPr lang="en-US" sz="13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nobody solves.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PROPOSED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Idea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94415" cy="841248"/>
          </a:xfrm>
          <a:prstGeom prst="roundRect">
            <a:avLst>
              <a:gd name="adj" fmla="val 7609"/>
            </a:avLst>
          </a:prstGeom>
          <a:solidFill>
            <a:srgbClr val="1D0F05"/>
          </a:solidFill>
          <a:ln w="12700">
            <a:solidFill>
              <a:srgbClr val="1D0F0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spc="2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LINE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that handles everything an Egyptian medical-education provider needs — courses, payments, exams, certificates, and admin oversight — with an AI review layer to remove the last piece of manual 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515258" cy="3200400"/>
          </a:xfrm>
          <a:prstGeom prst="roundRect">
            <a:avLst>
              <a:gd name="adj" fmla="val 2000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98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Node + MongoDB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built around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domains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with student &amp; admin surfaces, plus shared notifications &amp; audit.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2697480"/>
            <a:ext cx="3515258" cy="3200400"/>
          </a:xfrm>
          <a:prstGeom prst="roundRect">
            <a:avLst>
              <a:gd name="adj" fmla="val 2000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66818" y="2898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66818" y="3474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Closes the Gap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66818" y="406908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 replaces the whole stack.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Localized for EGP, InstaPay, Arabic screenshots &amp; Egyptian courses.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2697480"/>
            <a:ext cx="3515258" cy="3200400"/>
          </a:xfrm>
          <a:prstGeom prst="roundRect">
            <a:avLst>
              <a:gd name="adj" fmla="val 2000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6397" y="2898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6397" y="34747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Differentiator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56397" y="406908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9E5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vision-LLM reviews every payment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admins act on structured context, not raw screenshots.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FEATURE 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7" name="Image 0" descr="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715768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AI-Reviewed InstaPay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154680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screenshot arrives with fields &amp; reasons extracted.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6252" y="1783080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2284" y="2039112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12" name="Image 1" descr="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4" y="21762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2284" y="2715768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Email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42284" y="3154680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Auto-sent on every successful purchase.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23864" y="1783080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9896" y="2039112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17" name="Image 2" descr="f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6" y="21762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9896" y="2715768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Payment Review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79896" y="3154680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Screenshot, JSON &amp; reasons in one admin screen.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61475" y="1783080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17507" y="2039112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22" name="Image 3" descr="f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667" y="21762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507" y="2715768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&amp; Audit Trail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17507" y="3154680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admin action recorded.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041648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04672" y="4297680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27" name="Image 4" descr="f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43484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4672" y="4974336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PDF Viewer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04672" y="541324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materials, view-only — no downloads.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386252" y="4041648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42284" y="4297680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32" name="Image 5" descr="f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444" y="443484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42284" y="4974336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Proctored Exams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642284" y="541324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Timed; tab-switch &amp; clipboard locked; auto-disqualify.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23864" y="4041648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79896" y="4297680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37" name="Image 6" descr="f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056" y="4434840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79896" y="4974336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Notifications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479896" y="541324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Enrollment, payment status &amp; admin messages.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061475" y="4041648"/>
            <a:ext cx="2581580" cy="1965960"/>
          </a:xfrm>
          <a:prstGeom prst="roundRect">
            <a:avLst>
              <a:gd name="adj" fmla="val 3256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317507" y="4297680"/>
            <a:ext cx="566928" cy="566928"/>
          </a:xfrm>
          <a:prstGeom prst="ellipse">
            <a:avLst/>
          </a:prstGeom>
          <a:solidFill>
            <a:srgbClr val="1D0F05"/>
          </a:solidFill>
          <a:ln w="12700">
            <a:solidFill>
              <a:srgbClr val="C8923A"/>
            </a:solidFill>
            <a:prstDash val="solid"/>
          </a:ln>
        </p:spPr>
      </p:sp>
      <p:pic>
        <p:nvPicPr>
          <p:cNvPr id="42" name="Image 7" descr="f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667" y="443484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17507" y="4974336"/>
            <a:ext cx="2069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Verification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317507" y="5413248"/>
            <a:ext cx="212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any certificate by code, publicly.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·  RESULTS &amp;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End-to-End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54298" cy="2148840"/>
          </a:xfrm>
          <a:prstGeom prst="roundRect">
            <a:avLst>
              <a:gd name="adj" fmla="val 2979"/>
            </a:avLst>
          </a:prstGeom>
          <a:solidFill>
            <a:srgbClr val="2A1608"/>
          </a:solidFill>
          <a:ln w="12700">
            <a:solidFill>
              <a:srgbClr val="4A342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Shipped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28873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student + admin functionality across 6 domains.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8698" y="1828800"/>
            <a:ext cx="3454298" cy="2148840"/>
          </a:xfrm>
          <a:prstGeom prst="roundRect">
            <a:avLst>
              <a:gd name="adj" fmla="val 2979"/>
            </a:avLst>
          </a:prstGeom>
          <a:solidFill>
            <a:srgbClr val="2A1608"/>
          </a:solidFill>
          <a:ln w="12700">
            <a:solidFill>
              <a:srgbClr val="4A342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3018" y="20116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661306" y="297180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1306" y="3310128"/>
            <a:ext cx="28873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the entire platform end-to-end.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8757" y="1828800"/>
            <a:ext cx="3454298" cy="2148840"/>
          </a:xfrm>
          <a:prstGeom prst="roundRect">
            <a:avLst>
              <a:gd name="adj" fmla="val 2979"/>
            </a:avLst>
          </a:prstGeom>
          <a:solidFill>
            <a:srgbClr val="2A1608"/>
          </a:solidFill>
          <a:ln w="12700">
            <a:solidFill>
              <a:srgbClr val="4A342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63077" y="20116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481365" y="297180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Collections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81365" y="3310128"/>
            <a:ext cx="28873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B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Courses, Enrollments, Payments, Certificates, Notifications, Logs &amp; more.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AD9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 SURFACES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22883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17720"/>
            <a:ext cx="11228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 page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17827" y="4617720"/>
            <a:ext cx="1430122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7827" y="4617720"/>
            <a:ext cx="1430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catalogue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94253" y="4617720"/>
            <a:ext cx="1199693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4253" y="4617720"/>
            <a:ext cx="1199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detail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40250" y="4617720"/>
            <a:ext cx="2351837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0250" y="4617720"/>
            <a:ext cx="23518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(Kashier + InstaPay)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38390" y="4617720"/>
            <a:ext cx="1353312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8390" y="46177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history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38006" y="4617720"/>
            <a:ext cx="1276502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8006" y="461772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player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506931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129784"/>
            <a:ext cx="15069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PDF viewer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01875" y="5129784"/>
            <a:ext cx="1046074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1875" y="5129784"/>
            <a:ext cx="104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 engine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94253" y="5129784"/>
            <a:ext cx="1122883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4253" y="5129784"/>
            <a:ext cx="11228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5129784"/>
            <a:ext cx="1583741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5129784"/>
            <a:ext cx="1583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Certificate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93485" y="5129784"/>
            <a:ext cx="738835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3485" y="5129784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78624" y="5129784"/>
            <a:ext cx="1199693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78624" y="5129784"/>
            <a:ext cx="11996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24621" y="5129784"/>
            <a:ext cx="2198218" cy="384048"/>
          </a:xfrm>
          <a:prstGeom prst="roundRect">
            <a:avLst>
              <a:gd name="adj" fmla="val 11905"/>
            </a:avLst>
          </a:prstGeom>
          <a:solidFill>
            <a:srgbClr val="241405"/>
          </a:solidFill>
          <a:ln w="12700">
            <a:solidFill>
              <a:srgbClr val="4A34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24621" y="5129784"/>
            <a:ext cx="2198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C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dashboard (14 pages)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Built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4057" cy="2971800"/>
          </a:xfrm>
          <a:prstGeom prst="roundRect">
            <a:avLst>
              <a:gd name="adj" fmla="val 3178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423160"/>
            <a:ext cx="16117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383280"/>
            <a:ext cx="1611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9808" y="3977640"/>
            <a:ext cx="16482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the LMS gap, features &amp; user journeys.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35265" y="2148840"/>
            <a:ext cx="31089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18729" y="2148840"/>
            <a:ext cx="2014057" cy="2971800"/>
          </a:xfrm>
          <a:prstGeom prst="roundRect">
            <a:avLst>
              <a:gd name="adj" fmla="val 3178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9897" y="2423160"/>
            <a:ext cx="16117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019897" y="3383280"/>
            <a:ext cx="1611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019897" y="3977640"/>
            <a:ext cx="16482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architecture, data model &amp; UX for both roles.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5355" y="2148840"/>
            <a:ext cx="31089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88819" y="2148840"/>
            <a:ext cx="2014057" cy="2971800"/>
          </a:xfrm>
          <a:prstGeom prst="roundRect">
            <a:avLst>
              <a:gd name="adj" fmla="val 3178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89987" y="2423160"/>
            <a:ext cx="16117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289987" y="3383280"/>
            <a:ext cx="1611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289987" y="3977640"/>
            <a:ext cx="16482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all six domains + the AI review layer.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75444" y="2148840"/>
            <a:ext cx="31089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58908" y="2148840"/>
            <a:ext cx="2014057" cy="2971800"/>
          </a:xfrm>
          <a:prstGeom prst="roundRect">
            <a:avLst>
              <a:gd name="adj" fmla="val 3178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60076" y="2423160"/>
            <a:ext cx="16117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560076" y="3383280"/>
            <a:ext cx="1611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560076" y="3977640"/>
            <a:ext cx="16482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verification across every flow.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45534" y="2148840"/>
            <a:ext cx="31089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28998" y="2148840"/>
            <a:ext cx="2014057" cy="2971800"/>
          </a:xfrm>
          <a:prstGeom prst="roundRect">
            <a:avLst>
              <a:gd name="adj" fmla="val 3178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30166" y="2423160"/>
            <a:ext cx="16117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830166" y="3383280"/>
            <a:ext cx="1611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830166" y="3977640"/>
            <a:ext cx="16482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release &amp; final submission.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Process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Plan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67967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student &amp; admin journeys across 6 domains.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69464"/>
            <a:ext cx="10911535" cy="0"/>
          </a:xfrm>
          <a:prstGeom prst="line">
            <a:avLst/>
          </a:prstGeom>
          <a:noFill/>
          <a:ln w="12700">
            <a:solidFill>
              <a:srgbClr val="E1D4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60904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2660904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2660904"/>
            <a:ext cx="67967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architecture, JWT auth, gateway-agnostic payments.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47288"/>
            <a:ext cx="10911535" cy="0"/>
          </a:xfrm>
          <a:prstGeom prst="line">
            <a:avLst/>
          </a:prstGeom>
          <a:noFill/>
          <a:ln w="12700">
            <a:solidFill>
              <a:srgbClr val="E1D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38728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53872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3538728"/>
            <a:ext cx="67967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domain by domain — with AI review layered on payments.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10911535" cy="0"/>
          </a:xfrm>
          <a:prstGeom prst="line">
            <a:avLst/>
          </a:prstGeom>
          <a:noFill/>
          <a:ln w="12700">
            <a:solidFill>
              <a:srgbClr val="E1D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1655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44165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4416552"/>
            <a:ext cx="67967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journeys + every admin flow.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02936"/>
            <a:ext cx="10911535" cy="0"/>
          </a:xfrm>
          <a:prstGeom prst="line">
            <a:avLst/>
          </a:prstGeom>
          <a:noFill/>
          <a:ln w="12700">
            <a:solidFill>
              <a:srgbClr val="E1D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94376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529437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46320" y="5294376"/>
            <a:ext cx="67967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MongoDB Atlas hosting &amp; handover.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·  INNOVATION &amp;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 vs Existing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18608" cy="4343400"/>
          </a:xfrm>
          <a:prstGeom prst="roundRect">
            <a:avLst>
              <a:gd name="adj" fmla="val 1474"/>
            </a:avLst>
          </a:prstGeom>
          <a:solidFill>
            <a:srgbClr val="ECF3EA"/>
          </a:solidFill>
          <a:ln w="12700">
            <a:solidFill>
              <a:srgbClr val="CFE0C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56816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7699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LMS in one product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stitched tools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payment channels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card + AI-reviewed InstaPay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exam engine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timed, resets, auto-disqualify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certificates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 a public verify portal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CRM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courses, students, payments, permissions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E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</a:t>
            </a:r>
            <a:pPr algn="l" indent="0" marL="0">
              <a:lnSpc>
                <a:spcPct val="130000"/>
              </a:lnSpc>
              <a:spcAft>
                <a:spcPts val="17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EGP, Arabic, Egyptian training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324448" y="1737360"/>
            <a:ext cx="5318608" cy="4343400"/>
          </a:xfrm>
          <a:prstGeom prst="roundRect">
            <a:avLst>
              <a:gd name="adj" fmla="val 1474"/>
            </a:avLst>
          </a:prstGeom>
          <a:solidFill>
            <a:srgbClr val="F3E7E5"/>
          </a:solidFill>
          <a:ln w="12700">
            <a:solidFill>
              <a:srgbClr val="E2C8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1956816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B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98768" y="2606040"/>
            <a:ext cx="47699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9B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LMS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InstaPay, USD, no Arabic UX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9B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apps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exams, certificates, or CRM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9B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stacks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4–5 tools, manual everywhere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9B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pre-analysis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admin review</a:t>
            </a:r>
            <a:endParaRPr lang="en-US" sz="1380" dirty="0"/>
          </a:p>
          <a:p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9B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portals </a:t>
            </a:r>
            <a:pPr algn="l"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38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local products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·  INNOVATION &amp;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vs Outcomes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834640"/>
                <a:gridCol w="2651760"/>
                <a:gridCol w="11064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E3BB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OBJECTIVE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0F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E3BB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0F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E3BB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0F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E3BB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0F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Full student journey (browse → certify → verify)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End-to-end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15+ student pages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Full admin CRM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Courses, students, payments, content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14 admin pages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Payment methods supported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2 (Card + Bank)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2 (Kashier + InstaPay)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Exam engine (timed, attempts, scores)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Configurable per course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Full engine + overrides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Certificate issuance + verification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Both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Auto + upload + verify portal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AI-assisted payment review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Reasons per submission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100% explained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Notifications + invoice email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In-app + email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Both delivered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1405"/>
                          </a:solidFill>
                        </a:rPr>
                        <a:t>Role-based permissions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Fine-grained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23527"/>
                          </a:solidFill>
                        </a:rPr>
                        <a:t>Student &amp; Admin + permissions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B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&amp; Contribution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36003" cy="3840480"/>
          </a:xfrm>
          <a:prstGeom prst="roundRect">
            <a:avLst>
              <a:gd name="adj" fmla="val 314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2594" y="2075688"/>
            <a:ext cx="768096" cy="768096"/>
          </a:xfrm>
          <a:prstGeom prst="ellipse">
            <a:avLst/>
          </a:prstGeom>
          <a:solidFill>
            <a:srgbClr val="1D0F05"/>
          </a:solidFill>
          <a:ln w="15240">
            <a:solidFill>
              <a:srgbClr val="C89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2594" y="20756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Hany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853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246631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995928"/>
            <a:ext cx="17068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13243" y="1783080"/>
            <a:ext cx="2036003" cy="3840480"/>
          </a:xfrm>
          <a:prstGeom prst="roundRect">
            <a:avLst>
              <a:gd name="adj" fmla="val 314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197" y="2075688"/>
            <a:ext cx="768096" cy="768096"/>
          </a:xfrm>
          <a:prstGeom prst="ellipse">
            <a:avLst/>
          </a:prstGeom>
          <a:solidFill>
            <a:srgbClr val="1D0F05"/>
          </a:solidFill>
          <a:ln w="15240">
            <a:solidFill>
              <a:srgbClr val="C8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197" y="20756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04683" y="297180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Malak Mahmoud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04683" y="3383280"/>
            <a:ext cx="1853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245229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04683" y="365760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&amp; Payments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77835" y="3995928"/>
            <a:ext cx="17068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architecture · InstaPay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7846" y="1783080"/>
            <a:ext cx="2036003" cy="3840480"/>
          </a:xfrm>
          <a:prstGeom prst="roundRect">
            <a:avLst>
              <a:gd name="adj" fmla="val 314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11800" y="2075688"/>
            <a:ext cx="768096" cy="768096"/>
          </a:xfrm>
          <a:prstGeom prst="ellipse">
            <a:avLst/>
          </a:prstGeom>
          <a:solidFill>
            <a:srgbClr val="1D0F05"/>
          </a:solidFill>
          <a:ln w="15240">
            <a:solidFill>
              <a:srgbClr val="C89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1800" y="20756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69286" y="297180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Abdelrahman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69286" y="3383280"/>
            <a:ext cx="1853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247923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69286" y="365760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&amp; QA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42438" y="3995928"/>
            <a:ext cx="17068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· Student portal · Testing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42449" y="1783080"/>
            <a:ext cx="2036003" cy="3840480"/>
          </a:xfrm>
          <a:prstGeom prst="roundRect">
            <a:avLst>
              <a:gd name="adj" fmla="val 314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6403" y="2075688"/>
            <a:ext cx="768096" cy="768096"/>
          </a:xfrm>
          <a:prstGeom prst="ellipse">
            <a:avLst/>
          </a:prstGeom>
          <a:solidFill>
            <a:srgbClr val="1D0F05"/>
          </a:solidFill>
          <a:ln w="15240">
            <a:solidFill>
              <a:srgbClr val="C89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76403" y="20756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33889" y="297180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Badr Mohamed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33889" y="3383280"/>
            <a:ext cx="1853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249223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33889" y="365760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07041" y="3995928"/>
            <a:ext cx="17068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Kashier integration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7052" y="1783080"/>
            <a:ext cx="2036003" cy="3840480"/>
          </a:xfrm>
          <a:prstGeom prst="roundRect">
            <a:avLst>
              <a:gd name="adj" fmla="val 3144"/>
            </a:avLst>
          </a:prstGeom>
          <a:solidFill>
            <a:srgbClr val="F3E9D6"/>
          </a:solidFill>
          <a:ln w="12700">
            <a:solidFill>
              <a:srgbClr val="E7DCC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41006" y="2075688"/>
            <a:ext cx="768096" cy="768096"/>
          </a:xfrm>
          <a:prstGeom prst="ellipse">
            <a:avLst/>
          </a:prstGeom>
          <a:solidFill>
            <a:srgbClr val="1D0F05"/>
          </a:solidFill>
          <a:ln w="15240">
            <a:solidFill>
              <a:srgbClr val="C89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006" y="20756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698492" y="2971800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Noureen Mohamemed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98492" y="3383280"/>
            <a:ext cx="1853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246173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698492" y="3657600"/>
            <a:ext cx="1853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771644" y="3995928"/>
            <a:ext cx="17068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admin portal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788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64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Contact:  mohamed.hany28@msa.edu.eg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7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in_clean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8778240" y="1828800"/>
            <a:ext cx="3657600" cy="3502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A1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8595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600" i="1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of a student project isn’t in a single clever feature — it’s in whether the whole product could actually be used on Monday morning. SonoSchool ships a complete Egyptian LMS, and every domain in it is production-ready.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The SonoSchool Team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Codebase, One Product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1783080"/>
          </a:xfrm>
          <a:prstGeom prst="roundRect">
            <a:avLst>
              <a:gd name="adj" fmla="val 3590"/>
            </a:avLst>
          </a:prstGeom>
          <a:solidFill>
            <a:srgbClr val="2A1608"/>
          </a:solidFill>
          <a:ln w="15240">
            <a:solidFill>
              <a:srgbClr val="4A342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19842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31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add screenshot 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783080"/>
            <a:ext cx="5318608" cy="1783080"/>
          </a:xfrm>
          <a:prstGeom prst="roundRect">
            <a:avLst>
              <a:gd name="adj" fmla="val 3590"/>
            </a:avLst>
          </a:prstGeom>
          <a:solidFill>
            <a:srgbClr val="2A1608"/>
          </a:solidFill>
          <a:ln w="15240">
            <a:solidFill>
              <a:srgbClr val="4A342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598768" y="19842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Detail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4448" y="2148840"/>
            <a:ext cx="531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add screenshot 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18608" cy="1783080"/>
          </a:xfrm>
          <a:prstGeom prst="roundRect">
            <a:avLst>
              <a:gd name="adj" fmla="val 3590"/>
            </a:avLst>
          </a:prstGeom>
          <a:solidFill>
            <a:srgbClr val="2A1608"/>
          </a:solidFill>
          <a:ln w="15240">
            <a:solidFill>
              <a:srgbClr val="4A342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408736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531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add screenshot 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24448" y="3886200"/>
            <a:ext cx="5318608" cy="1783080"/>
          </a:xfrm>
          <a:prstGeom prst="roundRect">
            <a:avLst>
              <a:gd name="adj" fmla="val 3590"/>
            </a:avLst>
          </a:prstGeom>
          <a:solidFill>
            <a:srgbClr val="2A1608"/>
          </a:solidFill>
          <a:ln w="15240">
            <a:solidFill>
              <a:srgbClr val="4A342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598768" y="408736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4448" y="4251960"/>
            <a:ext cx="531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add screenshot 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D9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codebase, one product, one Egyptian LMS — from marketing site to admin CRM.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in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3931920" cy="3758184"/>
          </a:xfrm>
          <a:prstGeom prst="rect">
            <a:avLst/>
          </a:prstGeom>
        </p:spPr>
      </p:pic>
      <p:pic>
        <p:nvPicPr>
          <p:cNvPr id="3" name="Image 1" descr="asset_hdr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1920240" cy="52303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057400"/>
            <a:ext cx="274320" cy="23774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19110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·  LEVEL 3 COURSE PROJECT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2514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7" name="Text 3"/>
          <p:cNvSpPr/>
          <p:nvPr/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E-Learning Platform for Medical Education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" y="4526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spc="100" kern="0" dirty="0">
                <a:solidFill>
                  <a:srgbClr val="AD9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mohamed.hany28@msa.edu.eg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0F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3B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CD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 your questions, feedback, and ideas.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SonoSchool   ·   MSA University   ·   University of Greenwich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62895" y="6455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SonoSchool — Level 3 Course Project</dc:title>
  <dc:subject>PptxGenJS Presentation</dc:subject>
  <dc:creator>SonoSchool Team</dc:creator>
  <cp:lastModifiedBy>SonoSchool Team</cp:lastModifiedBy>
  <cp:revision>1</cp:revision>
  <dcterms:created xsi:type="dcterms:W3CDTF">2026-07-04T10:39:51Z</dcterms:created>
  <dcterms:modified xsi:type="dcterms:W3CDTF">2026-07-04T10:39:51Z</dcterms:modified>
</cp:coreProperties>
</file>